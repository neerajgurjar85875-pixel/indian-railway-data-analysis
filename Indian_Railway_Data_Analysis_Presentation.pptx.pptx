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5978FFB-7636-14BF-CFFA-D56334BA83DD}">
          <p14:sldIdLst>
            <p14:sldId id="256"/>
          </p14:sldIdLst>
        </p14:section>
        <p14:section name="Background" id="{C251980B-00A7-9494-A0AD-22E237B341B9}">
          <p14:sldIdLst>
            <p14:sldId id="257"/>
            <p14:sldId id="258"/>
            <p14:sldId id="259"/>
          </p14:sldIdLst>
        </p14:section>
        <p14:section name="Findings" id="{F634199E-1B40-A3AA-4CD6-D4081E9C1AB7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9514BB98-6B68-914F-C33D-7E60A8A3C4D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Times New Roman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Times New Roman"/>
              </a:rPr>
              <a:t>Departures: how many are on time?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AE-43CD-9B88-918897552A2A}"/>
              </c:ext>
            </c:extLst>
          </c:dPt>
          <c:dPt>
            <c:idx val="1"/>
            <c:invertIfNegative val="0"/>
            <c:bubble3D val="0"/>
            <c:spPr>
              <a:solidFill>
                <a:srgbClr val="1F7A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AE-43CD-9B88-918897552A2A}"/>
              </c:ext>
            </c:extLst>
          </c:dPt>
          <c:dPt>
            <c:idx val="2"/>
            <c:invertIfNegative val="0"/>
            <c:bubble3D val="0"/>
            <c:spPr>
              <a:solidFill>
                <a:srgbClr val="2E5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AE-43CD-9B88-918897552A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13D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Delayed</c:v>
                </c:pt>
                <c:pt idx="1">
                  <c:v>On time</c:v>
                </c:pt>
                <c:pt idx="2">
                  <c:v>Early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57568</c:v>
                </c:pt>
                <c:pt idx="1">
                  <c:v>5624</c:v>
                </c:pt>
                <c:pt idx="2">
                  <c:v>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AE-43CD-9B88-918897552A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Arrival reasons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8C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8F-49E1-831A-1AAAB893C4B0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8F-49E1-831A-1AAAB893C4B0}"/>
              </c:ext>
            </c:extLst>
          </c:dPt>
          <c:dPt>
            <c:idx val="2"/>
            <c:bubble3D val="0"/>
            <c:spPr>
              <a:solidFill>
                <a:srgbClr val="2E5A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8F-49E1-831A-1AAAB893C4B0}"/>
              </c:ext>
            </c:extLst>
          </c:dPt>
          <c:dPt>
            <c:idx val="3"/>
            <c:bubble3D val="0"/>
            <c:spPr>
              <a:solidFill>
                <a:srgbClr val="7F8C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8F-49E1-831A-1AAAB893C4B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A8F-49E1-831A-1AAAB893C4B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A8F-49E1-831A-1AAAB893C4B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A8F-49E1-831A-1AAAB893C4B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A8F-49E1-831A-1AAAB893C4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Minor signal issue</c:v>
                </c:pt>
                <c:pt idx="1">
                  <c:v>Engine issue</c:v>
                </c:pt>
                <c:pt idx="2">
                  <c:v>Late preceding train</c:v>
                </c:pt>
                <c:pt idx="3">
                  <c:v>Already arrived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29199</c:v>
                </c:pt>
                <c:pt idx="1">
                  <c:v>28920</c:v>
                </c:pt>
                <c:pt idx="2">
                  <c:v>28513</c:v>
                </c:pt>
                <c:pt idx="3">
                  <c:v>4501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8F-49E1-831A-1AAAB893C4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13D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Early departure</c:v>
                </c:pt>
                <c:pt idx="1">
                  <c:v>On time</c:v>
                </c:pt>
                <c:pt idx="2">
                  <c:v>Minor signal issue</c:v>
                </c:pt>
                <c:pt idx="3">
                  <c:v>Technical problem</c:v>
                </c:pt>
                <c:pt idx="4">
                  <c:v>Operational delay</c:v>
                </c:pt>
                <c:pt idx="5">
                  <c:v>Minor operational delay</c:v>
                </c:pt>
                <c:pt idx="6">
                  <c:v>Track maintenance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579</c:v>
                </c:pt>
                <c:pt idx="1">
                  <c:v>5624</c:v>
                </c:pt>
                <c:pt idx="2">
                  <c:v>10443</c:v>
                </c:pt>
                <c:pt idx="3">
                  <c:v>12881</c:v>
                </c:pt>
                <c:pt idx="4">
                  <c:v>15697</c:v>
                </c:pt>
                <c:pt idx="5">
                  <c:v>18547</c:v>
                </c:pt>
                <c:pt idx="6">
                  <c:v>27362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4A-4902-947A-C61FDCA1FD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Arrival delay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13D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115.7</c:v>
                </c:pt>
                <c:pt idx="1">
                  <c:v>132.19999999999999</c:v>
                </c:pt>
                <c:pt idx="2">
                  <c:v>125.4</c:v>
                </c:pt>
                <c:pt idx="3">
                  <c:v>119.4</c:v>
                </c:pt>
                <c:pt idx="4">
                  <c:v>128.6</c:v>
                </c:pt>
                <c:pt idx="5">
                  <c:v>121.2</c:v>
                </c:pt>
                <c:pt idx="6">
                  <c:v>130.1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56-4E57-9308-8F0F74698A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Departure delay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13D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107.8</c:v>
                </c:pt>
                <c:pt idx="1">
                  <c:v>122.7</c:v>
                </c:pt>
                <c:pt idx="2">
                  <c:v>116.7</c:v>
                </c:pt>
                <c:pt idx="3">
                  <c:v>110.3</c:v>
                </c:pt>
                <c:pt idx="4">
                  <c:v>121.4</c:v>
                </c:pt>
                <c:pt idx="5">
                  <c:v>112.4</c:v>
                </c:pt>
                <c:pt idx="6">
                  <c:v>122.2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56-4E57-9308-8F0F74698A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2B3A55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2B3A55"/>
                    </a:solidFill>
                    <a:latin typeface="Times New Roman"/>
                  </a:rPr>
                  <a:t>Average delay (minutes)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Arrival delay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122.2</c:v>
                </c:pt>
                <c:pt idx="1">
                  <c:v>105.6</c:v>
                </c:pt>
                <c:pt idx="2">
                  <c:v>106.3</c:v>
                </c:pt>
                <c:pt idx="3">
                  <c:v>98.1</c:v>
                </c:pt>
                <c:pt idx="4">
                  <c:v>149.1</c:v>
                </c:pt>
                <c:pt idx="5">
                  <c:v>157.5</c:v>
                </c:pt>
                <c:pt idx="6">
                  <c:v>125.1</c:v>
                </c:pt>
                <c:pt idx="7">
                  <c:v>106.6</c:v>
                </c:pt>
                <c:pt idx="8">
                  <c:v>120.4</c:v>
                </c:pt>
                <c:pt idx="9">
                  <c:v>132.5</c:v>
                </c:pt>
                <c:pt idx="10">
                  <c:v>160.69999999999999</c:v>
                </c:pt>
                <c:pt idx="11">
                  <c:v>106.7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83-4E9D-B120-9A4CE419B2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Departure delay</c:v>
                </c:pt>
              </c:strCache>
            </c:strRef>
          </c:tx>
          <c:spPr>
            <a:ln w="38100" cap="flat">
              <a:solidFill>
                <a:srgbClr val="2E5A8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E5A88"/>
              </a:solidFill>
              <a:ln w="9525" cap="flat">
                <a:solidFill>
                  <a:srgbClr val="2E5A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112</c:v>
                </c:pt>
                <c:pt idx="1">
                  <c:v>98.4</c:v>
                </c:pt>
                <c:pt idx="2">
                  <c:v>99</c:v>
                </c:pt>
                <c:pt idx="3">
                  <c:v>91.8</c:v>
                </c:pt>
                <c:pt idx="4">
                  <c:v>138.19999999999999</c:v>
                </c:pt>
                <c:pt idx="5">
                  <c:v>146.4</c:v>
                </c:pt>
                <c:pt idx="6">
                  <c:v>116.7</c:v>
                </c:pt>
                <c:pt idx="7">
                  <c:v>99.7</c:v>
                </c:pt>
                <c:pt idx="8">
                  <c:v>111.7</c:v>
                </c:pt>
                <c:pt idx="9">
                  <c:v>124.3</c:v>
                </c:pt>
                <c:pt idx="10">
                  <c:v>151.6</c:v>
                </c:pt>
                <c:pt idx="11">
                  <c:v>99.9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83-4E9D-B120-9A4CE419B2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2B3A55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2B3A55"/>
                    </a:solidFill>
                    <a:latin typeface="Times New Roman"/>
                  </a:rPr>
                  <a:t>Average delay (minutes)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Times New Roman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Times New Roman"/>
              </a:rPr>
              <a:t>Top trains: average arrival delay (min)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arrival delay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13D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Train 1029</c:v>
                </c:pt>
                <c:pt idx="1">
                  <c:v>Train 761</c:v>
                </c:pt>
                <c:pt idx="2">
                  <c:v>Train 762</c:v>
                </c:pt>
                <c:pt idx="3">
                  <c:v>Train 461</c:v>
                </c:pt>
                <c:pt idx="4">
                  <c:v>Train 462</c:v>
                </c:pt>
                <c:pt idx="5">
                  <c:v>Train 1030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353.7</c:v>
                </c:pt>
                <c:pt idx="1">
                  <c:v>376.3</c:v>
                </c:pt>
                <c:pt idx="2">
                  <c:v>383.5</c:v>
                </c:pt>
                <c:pt idx="3">
                  <c:v>413.7</c:v>
                </c:pt>
                <c:pt idx="4">
                  <c:v>429.8</c:v>
                </c:pt>
                <c:pt idx="5">
                  <c:v>500.3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82-4E08-BC09-2EBB060811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Times New Roman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Times New Roman"/>
              </a:rPr>
              <a:t>Top stations: average arrival delay (min)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arrival delay</c:v>
                </c:pt>
              </c:strCache>
            </c:strRef>
          </c:tx>
          <c:spPr>
            <a:solidFill>
              <a:srgbClr val="2E5A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13D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RTR</c:v>
                </c:pt>
                <c:pt idx="1">
                  <c:v>HMPR</c:v>
                </c:pt>
                <c:pt idx="2">
                  <c:v>SDT</c:v>
                </c:pt>
                <c:pt idx="3">
                  <c:v>PRRB</c:v>
                </c:pt>
                <c:pt idx="4">
                  <c:v>LKJN</c:v>
                </c:pt>
                <c:pt idx="5">
                  <c:v>BCY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2069</c:v>
                </c:pt>
                <c:pt idx="1">
                  <c:v>2962</c:v>
                </c:pt>
                <c:pt idx="2">
                  <c:v>2966</c:v>
                </c:pt>
                <c:pt idx="3">
                  <c:v>2992</c:v>
                </c:pt>
                <c:pt idx="4">
                  <c:v>3048</c:v>
                </c:pt>
                <c:pt idx="5">
                  <c:v>3070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D5-49C6-B7C2-538DD4E069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26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yourselves: Neeraj Gurjar and Manish Jangid. Explain that this project studies why Indian trains run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question: why should anyone care about delays? Then show three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dataset: each row is one train stopping at one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 from raw data to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average a train is about two hours late. Only about 6% of departures (5,624) were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Signals, engines and a late train ahead each cause about one-third of arrival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maintenance is the biggest single reason for late departures (27,362 records).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 and Saturday are the worst days; Sunday is the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Delays jump in May-June and again in October-November, which are heavy travel and festival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1030 averages 500 minutes late. Stations BCY, LKJN and PRRB have the highest average arrival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findings, then give simple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Indian Railway Delay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74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our trains late, and how can we fix it?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Presenter card"/>
          <p:cNvSpPr/>
          <p:nvPr/>
        </p:nvSpPr>
        <p:spPr>
          <a:xfrm>
            <a:off x="457201" y="3200399"/>
            <a:ext cx="2110154" cy="499403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  <p:txBody>
          <a:bodyPr/>
          <a:lstStyle/>
          <a:p>
            <a:r>
              <a:rPr lang="en-IN" sz="2000" dirty="0">
                <a:highlight>
                  <a:srgbClr val="C0C0C0"/>
                </a:highlight>
              </a:rPr>
              <a:t>Neeraj Gurjar</a:t>
            </a:r>
          </a:p>
        </p:txBody>
      </p:sp>
      <p:sp>
        <p:nvSpPr>
          <p:cNvPr id="7" name="Hero circle"/>
          <p:cNvSpPr/>
          <p:nvPr/>
        </p:nvSpPr>
        <p:spPr>
          <a:xfrm>
            <a:off x="5989320" y="82296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Hero train" descr="Trai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91,133 train records  |  16 trains  |  190 stations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study train delays?</a:t>
            </a:r>
            <a:endParaRPr lang="en-US" sz="3400" dirty="0"/>
          </a:p>
        </p:txBody>
      </p:sp>
      <p:sp>
        <p:nvSpPr>
          <p:cNvPr id="3" name="Why card 1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 users circle"/>
          <p:cNvSpPr/>
          <p:nvPr/>
        </p:nvSpPr>
        <p:spPr>
          <a:xfrm>
            <a:off x="128016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users" descr="Icon 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passengers care?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 trains waste time, miss connections and make travel stressful.</a:t>
            </a:r>
            <a:endParaRPr lang="en-US" sz="1400" dirty="0"/>
          </a:p>
        </p:txBody>
      </p:sp>
      <p:sp>
        <p:nvSpPr>
          <p:cNvPr id="8" name="Why card 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Icon money circle"/>
          <p:cNvSpPr/>
          <p:nvPr/>
        </p:nvSpPr>
        <p:spPr>
          <a:xfrm>
            <a:off x="4114800" y="16002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money" descr="Icon mon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it cost so much?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Delays block tracks for other trains and raise running costs.</a:t>
            </a:r>
            <a:endParaRPr lang="en-US" sz="1400" dirty="0"/>
          </a:p>
        </p:txBody>
      </p:sp>
      <p:sp>
        <p:nvSpPr>
          <p:cNvPr id="13" name="Why card 3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Icon bulb circle"/>
          <p:cNvSpPr/>
          <p:nvPr/>
        </p:nvSpPr>
        <p:spPr>
          <a:xfrm>
            <a:off x="6949440" y="16002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 bulb" descr="Icon bul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8288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use data?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shows WHEN, WHERE and WHY delays happen, so we can fix the real cause.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data do we have?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801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91,133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records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697480" y="12801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97480" y="1417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48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trains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57200" y="28803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railway stations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2697480" y="28803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749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types</a:t>
            </a:r>
            <a:endParaRPr lang="en-US" sz="1400" dirty="0"/>
          </a:p>
        </p:txBody>
      </p:sp>
      <p:sp>
        <p:nvSpPr>
          <p:cNvPr id="15" name="Columns card"/>
          <p:cNvSpPr/>
          <p:nvPr/>
        </p:nvSpPr>
        <p:spPr>
          <a:xfrm>
            <a:off x="5074920" y="128016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Excel icon circle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Excel icon" descr="Exce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62306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08076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inside the sheet?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2860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name, number and type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Station code and distance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Scheduled vs actual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Arrival and departure delay (minutes)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 for every delay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of week and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did we do the analysis?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554480"/>
            <a:ext cx="1508760" cy="246888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tep icon 1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icon 1" descr="Step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19316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Railway data in Excel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103120" y="1554480"/>
            <a:ext cx="1508760" cy="246888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tep icon 2 circle"/>
          <p:cNvSpPr/>
          <p:nvPr/>
        </p:nvSpPr>
        <p:spPr>
          <a:xfrm>
            <a:off x="2468880" y="173736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Step icon 2" descr="Step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90" y="19316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0312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10312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19456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 errors and blanks</a:t>
            </a:r>
            <a:endParaRPr lang="en-US" sz="1400" dirty="0"/>
          </a:p>
        </p:txBody>
      </p:sp>
      <p:sp>
        <p:nvSpPr>
          <p:cNvPr id="15" name="Step card 3"/>
          <p:cNvSpPr/>
          <p:nvPr/>
        </p:nvSpPr>
        <p:spPr>
          <a:xfrm>
            <a:off x="3749040" y="1554480"/>
            <a:ext cx="1508760" cy="246888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tep icon 3 circle"/>
          <p:cNvSpPr/>
          <p:nvPr/>
        </p:nvSpPr>
        <p:spPr>
          <a:xfrm>
            <a:off x="4114800" y="17373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Step icon 3" descr="Step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110" y="19316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4904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74904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Summarize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384048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Pivot tables and reports</a:t>
            </a:r>
            <a:endParaRPr lang="en-US" sz="1400" dirty="0"/>
          </a:p>
        </p:txBody>
      </p:sp>
      <p:sp>
        <p:nvSpPr>
          <p:cNvPr id="21" name="Step card 4"/>
          <p:cNvSpPr/>
          <p:nvPr/>
        </p:nvSpPr>
        <p:spPr>
          <a:xfrm>
            <a:off x="5394960" y="1554480"/>
            <a:ext cx="1508760" cy="246888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tep icon 4 circle"/>
          <p:cNvSpPr/>
          <p:nvPr/>
        </p:nvSpPr>
        <p:spPr>
          <a:xfrm>
            <a:off x="5760720" y="17373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Step icon 4" descr="Step 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030" y="193167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9496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39496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Charts and dashboard</a:t>
            </a:r>
            <a:endParaRPr lang="en-US" sz="1400" dirty="0"/>
          </a:p>
        </p:txBody>
      </p:sp>
      <p:sp>
        <p:nvSpPr>
          <p:cNvPr id="27" name="Step card 5"/>
          <p:cNvSpPr/>
          <p:nvPr/>
        </p:nvSpPr>
        <p:spPr>
          <a:xfrm>
            <a:off x="7040880" y="1554480"/>
            <a:ext cx="1508760" cy="246888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tep icon 5 circle"/>
          <p:cNvSpPr/>
          <p:nvPr/>
        </p:nvSpPr>
        <p:spPr>
          <a:xfrm>
            <a:off x="740664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Step icon 5" descr="Step ico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950" y="1931670"/>
            <a:ext cx="388620" cy="3886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40880" y="2606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7040880" y="2880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Conclude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713232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causes and fixes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used Excel pivot tables, charts and slicers to turn 91,000+ rows into simple answers.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late are our trains?</a:t>
            </a:r>
            <a:endParaRPr lang="en-US" sz="3400" dirty="0"/>
          </a:p>
        </p:txBody>
      </p:sp>
      <p:sp>
        <p:nvSpPr>
          <p:cNvPr id="3" name="Delay card 1"/>
          <p:cNvSpPr/>
          <p:nvPr/>
        </p:nvSpPr>
        <p:spPr>
          <a:xfrm>
            <a:off x="457200" y="12801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124.7 min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arrival delay</a:t>
            </a:r>
            <a:endParaRPr lang="en-US" sz="1400" dirty="0"/>
          </a:p>
        </p:txBody>
      </p:sp>
      <p:sp>
        <p:nvSpPr>
          <p:cNvPr id="6" name="Delay card 2"/>
          <p:cNvSpPr/>
          <p:nvPr/>
        </p:nvSpPr>
        <p:spPr>
          <a:xfrm>
            <a:off x="2697480" y="12801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97480" y="14630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116.2 min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103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departure delay</a:t>
            </a:r>
            <a:endParaRPr lang="en-US" sz="1400" dirty="0"/>
          </a:p>
        </p:txBody>
      </p:sp>
      <p:sp>
        <p:nvSpPr>
          <p:cNvPr id="9" name="Delay card 3"/>
          <p:cNvSpPr/>
          <p:nvPr/>
        </p:nvSpPr>
        <p:spPr>
          <a:xfrm>
            <a:off x="457200" y="28803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3,464 min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Longest arrival delay</a:t>
            </a:r>
            <a:endParaRPr lang="en-US" sz="1400" dirty="0"/>
          </a:p>
        </p:txBody>
      </p:sp>
      <p:sp>
        <p:nvSpPr>
          <p:cNvPr id="12" name="Delay card 4"/>
          <p:cNvSpPr/>
          <p:nvPr/>
        </p:nvSpPr>
        <p:spPr>
          <a:xfrm>
            <a:off x="2697480" y="2880360"/>
            <a:ext cx="205740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3,209 min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Longest departure delay</a:t>
            </a:r>
            <a:endParaRPr lang="en-US" sz="1400" dirty="0"/>
          </a:p>
        </p:txBody>
      </p:sp>
      <p:sp>
        <p:nvSpPr>
          <p:cNvPr id="15" name="Departure chart card"/>
          <p:cNvSpPr/>
          <p:nvPr/>
        </p:nvSpPr>
        <p:spPr>
          <a:xfrm>
            <a:off x="5074920" y="128016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6" name="Chart 0"/>
          <p:cNvGraphicFramePr/>
          <p:nvPr/>
        </p:nvGraphicFramePr>
        <p:xfrm>
          <a:off x="5166360" y="1371600"/>
          <a:ext cx="3429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trains arrive late?</a:t>
            </a:r>
            <a:endParaRPr lang="en-US" sz="3400" dirty="0"/>
          </a:p>
        </p:txBody>
      </p:sp>
      <p:sp>
        <p:nvSpPr>
          <p:cNvPr id="3" name="Arrival reasons card"/>
          <p:cNvSpPr/>
          <p:nvPr/>
        </p:nvSpPr>
        <p:spPr>
          <a:xfrm>
            <a:off x="457200" y="1280160"/>
            <a:ext cx="457200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48640" y="137160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ason card 1"/>
          <p:cNvSpPr/>
          <p:nvPr/>
        </p:nvSpPr>
        <p:spPr>
          <a:xfrm>
            <a:off x="5303520" y="1280160"/>
            <a:ext cx="338328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40680" y="12801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28016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signal issues</a:t>
            </a:r>
            <a:endParaRPr lang="en-US" sz="1600" dirty="0"/>
          </a:p>
        </p:txBody>
      </p:sp>
      <p:sp>
        <p:nvSpPr>
          <p:cNvPr id="8" name="Reason card 2"/>
          <p:cNvSpPr/>
          <p:nvPr/>
        </p:nvSpPr>
        <p:spPr>
          <a:xfrm>
            <a:off x="5303520" y="2194560"/>
            <a:ext cx="338328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40680" y="21945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19456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problems</a:t>
            </a:r>
            <a:endParaRPr lang="en-US" sz="1600" dirty="0"/>
          </a:p>
        </p:txBody>
      </p:sp>
      <p:sp>
        <p:nvSpPr>
          <p:cNvPr id="11" name="Reason card 3"/>
          <p:cNvSpPr/>
          <p:nvPr/>
        </p:nvSpPr>
        <p:spPr>
          <a:xfrm>
            <a:off x="5303520" y="3108960"/>
            <a:ext cx="338328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440680" y="31089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310896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 preceding train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causes share almost equal blame.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trains leave late?</a:t>
            </a:r>
            <a:endParaRPr lang="en-US" sz="3400" dirty="0"/>
          </a:p>
        </p:txBody>
      </p:sp>
      <p:sp>
        <p:nvSpPr>
          <p:cNvPr id="3" name="Departure reasons card"/>
          <p:cNvSpPr/>
          <p:nvPr/>
        </p:nvSpPr>
        <p:spPr>
          <a:xfrm>
            <a:off x="457200" y="1280160"/>
            <a:ext cx="548640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48640" y="137160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Insight card"/>
          <p:cNvSpPr/>
          <p:nvPr/>
        </p:nvSpPr>
        <p:spPr>
          <a:xfrm>
            <a:off x="6217920" y="1280160"/>
            <a:ext cx="2468880" cy="310896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Wrench icon circle"/>
          <p:cNvSpPr/>
          <p:nvPr/>
        </p:nvSpPr>
        <p:spPr>
          <a:xfrm>
            <a:off x="699516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Wrench icon" descr="Wren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916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30%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departure delays come from track maintenance, the number one cause.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days are the worst?</a:t>
            </a:r>
            <a:endParaRPr lang="en-US" sz="3400" dirty="0"/>
          </a:p>
        </p:txBody>
      </p:sp>
      <p:sp>
        <p:nvSpPr>
          <p:cNvPr id="3" name="Day chart card"/>
          <p:cNvSpPr/>
          <p:nvPr/>
        </p:nvSpPr>
        <p:spPr>
          <a:xfrm>
            <a:off x="457200" y="1280160"/>
            <a:ext cx="585216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48640" y="137160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Worst day card"/>
          <p:cNvSpPr/>
          <p:nvPr/>
        </p:nvSpPr>
        <p:spPr>
          <a:xfrm>
            <a:off x="6583680" y="1280160"/>
            <a:ext cx="210312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75120" y="128016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Worst: Monday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132 min average delay</a:t>
            </a:r>
            <a:endParaRPr lang="en-US" sz="1800" dirty="0"/>
          </a:p>
        </p:txBody>
      </p:sp>
      <p:sp>
        <p:nvSpPr>
          <p:cNvPr id="7" name="Best day card"/>
          <p:cNvSpPr/>
          <p:nvPr/>
        </p:nvSpPr>
        <p:spPr>
          <a:xfrm>
            <a:off x="6583680" y="2971800"/>
            <a:ext cx="210312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75120" y="297180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Best: Sunday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116 min average delay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do delays peak in the year?</a:t>
            </a:r>
            <a:endParaRPr lang="en-US" sz="3400" dirty="0"/>
          </a:p>
        </p:txBody>
      </p:sp>
      <p:sp>
        <p:nvSpPr>
          <p:cNvPr id="3" name="Month chart card"/>
          <p:cNvSpPr/>
          <p:nvPr/>
        </p:nvSpPr>
        <p:spPr>
          <a:xfrm>
            <a:off x="457200" y="1280160"/>
            <a:ext cx="585216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48640" y="137160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eak card"/>
          <p:cNvSpPr/>
          <p:nvPr/>
        </p:nvSpPr>
        <p:spPr>
          <a:xfrm>
            <a:off x="6583680" y="1280160"/>
            <a:ext cx="210312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75120" y="128016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Peak: Nov and Jun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160 and 157 min</a:t>
            </a:r>
            <a:endParaRPr lang="en-US" sz="1600" dirty="0"/>
          </a:p>
        </p:txBody>
      </p:sp>
      <p:sp>
        <p:nvSpPr>
          <p:cNvPr id="7" name="Low card"/>
          <p:cNvSpPr/>
          <p:nvPr/>
        </p:nvSpPr>
        <p:spPr>
          <a:xfrm>
            <a:off x="6583680" y="2971800"/>
            <a:ext cx="210312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75120" y="297180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Lowest: April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98 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trains and stations are the worst?</a:t>
            </a:r>
            <a:endParaRPr lang="en-US" sz="3400" dirty="0"/>
          </a:p>
        </p:txBody>
      </p:sp>
      <p:sp>
        <p:nvSpPr>
          <p:cNvPr id="3" name="Trains card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48640" y="1280160"/>
          <a:ext cx="3840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ions card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1"/>
          <p:cNvGraphicFramePr/>
          <p:nvPr/>
        </p:nvGraphicFramePr>
        <p:xfrm>
          <a:off x="4754880" y="1280160"/>
          <a:ext cx="3840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1030 (Madgaon to Mumbai CSMT Special) is the most delayed train.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did we learn and what next?</a:t>
            </a:r>
            <a:endParaRPr lang="en-US" sz="3400" dirty="0"/>
          </a:p>
        </p:txBody>
      </p:sp>
      <p:sp>
        <p:nvSpPr>
          <p:cNvPr id="3" name="Summary card 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ummary icon 1 circle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Summary icon 1" descr="Summary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Trains run about 2 hours late on average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Signals, engines and late trains each cause about 1/3 of delays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maintenance is the top departure problem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Mondays, June and November are worst</a:t>
            </a:r>
            <a:endParaRPr lang="en-US" sz="1400" dirty="0"/>
          </a:p>
        </p:txBody>
      </p:sp>
      <p:sp>
        <p:nvSpPr>
          <p:cNvPr id="8" name="Summary card 2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ummary icon 2 circle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ummary icon 2" descr="Summary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531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we improve?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Upgrade signals and maintain engines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track work at night or off-peak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extra buffer time to Monday and peak-month trains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the worst trains and stations every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642403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246888" y="28205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4" name="Train badge"/>
          <p:cNvSpPr/>
          <p:nvPr/>
        </p:nvSpPr>
        <p:spPr>
          <a:xfrm>
            <a:off x="3977640" y="274320"/>
            <a:ext cx="118872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rain badge icon" descr="Trai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457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Indian Railway Delay 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an Railway">
  <a:themeElements>
    <a:clrScheme name="Indian Railway">
      <a:dk1>
        <a:srgbClr val="14213D"/>
      </a:dk1>
      <a:lt1>
        <a:srgbClr val="FFFFFF"/>
      </a:lt1>
      <a:dk2>
        <a:srgbClr val="2B3A55"/>
      </a:dk2>
      <a:lt2>
        <a:srgbClr val="F3F6FA"/>
      </a:lt2>
      <a:accent1>
        <a:srgbClr val="F28C28"/>
      </a:accent1>
      <a:accent2>
        <a:srgbClr val="1F7A4D"/>
      </a:accent2>
      <a:accent3>
        <a:srgbClr val="C0392B"/>
      </a:accent3>
      <a:accent4>
        <a:srgbClr val="2E5A88"/>
      </a:accent4>
      <a:accent5>
        <a:srgbClr val="7F8C9B"/>
      </a:accent5>
      <a:accent6>
        <a:srgbClr val="E9B44C"/>
      </a:accent6>
      <a:hlink>
        <a:srgbClr val="2E5A88"/>
      </a:hlink>
      <a:folHlink>
        <a:srgbClr val="7F8C9B"/>
      </a:folHlink>
    </a:clrScheme>
    <a:fontScheme name="Indian Railway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664</Words>
  <Application>Microsoft Office PowerPoint</Application>
  <PresentationFormat>On-screen Show (16:9)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Indian Railway</vt:lpstr>
      <vt:lpstr>Indian Railway Delay Analysis</vt:lpstr>
      <vt:lpstr>Why study train delays?</vt:lpstr>
      <vt:lpstr>What data do we have?</vt:lpstr>
      <vt:lpstr>How did we do the analysis?</vt:lpstr>
      <vt:lpstr>How late are our trains?</vt:lpstr>
      <vt:lpstr>Why do trains arrive late?</vt:lpstr>
      <vt:lpstr>Why do trains leave late?</vt:lpstr>
      <vt:lpstr>Which days are the worst?</vt:lpstr>
      <vt:lpstr>When do delays peak in the year?</vt:lpstr>
      <vt:lpstr>Which trains and stations are the worst?</vt:lpstr>
      <vt:lpstr>What did we learn and what next?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Railway Delay Analysis</dc:title>
  <dc:subject>PptxGenJS Presentation</dc:subject>
  <dc:creator>Neeraj Gurjar and Manish Jangid</dc:creator>
  <cp:lastModifiedBy>Neeraj gurjar</cp:lastModifiedBy>
  <cp:revision>2</cp:revision>
  <dcterms:created xsi:type="dcterms:W3CDTF">2026-10-09T05:36:06Z</dcterms:created>
  <dcterms:modified xsi:type="dcterms:W3CDTF">2026-10-13T07:00:06Z</dcterms:modified>
</cp:coreProperties>
</file>